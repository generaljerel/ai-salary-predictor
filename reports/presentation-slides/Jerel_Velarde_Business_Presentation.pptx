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Job Market Intelligence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for Hiring &amp; Compensation Strategy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1371600" cy="3657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Jerel Velarde  |  Business Presentation  |  March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B8504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$112K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16C"/>
                </a:solidFill>
              </a:rPr>
              <a:t>Average AI Salary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10058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2-3x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606040" y="1828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16C"/>
                </a:solidFill>
              </a:rPr>
              <a:t>Executive vs Entry Gap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754880" y="1828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16C"/>
                </a:solidFill>
              </a:rPr>
              <a:t>US-Based Roles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03720" y="10058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903720" y="1828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16C"/>
                </a:solidFill>
              </a:rPr>
              <a:t>Salary Variance Explained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743200"/>
            <a:ext cx="78638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2743200"/>
            <a:ext cx="64008" cy="19202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2880360"/>
            <a:ext cx="7406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03C"/>
                </a:solidFill>
              </a:rPr>
              <a:t>We analyzed 565 data science job records from 2020-2022 to identify the key drivers of AI compensation. Experience level emerged as the single most important factor, with executive-level professionals earning 2-3x entry-level salaries. US-based roles command significantly higher pay, and company size plays a meaningful role in salary determination.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4403C"/>
                </a:solidFill>
              </a:rPr>
              <a:t>These findings can guide hiring managers in benchmarking offers, help HR teams build equitable compensation frameworks, and inform talent acquisition strategy.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Drives AI Salaries?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457200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120640" y="1005840"/>
            <a:ext cx="35661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120640" y="1005840"/>
            <a:ext cx="64008" cy="3291840"/>
          </a:xfrm>
          <a:prstGeom prst="rect">
            <a:avLst/>
          </a:prstGeom>
          <a:solidFill>
            <a:srgbClr val="C48B2C"/>
          </a:solidFill>
          <a:ln/>
        </p:spPr>
      </p:sp>
      <p:sp>
        <p:nvSpPr>
          <p:cNvPr id="7" name="Text 4"/>
          <p:cNvSpPr/>
          <p:nvPr/>
        </p:nvSpPr>
        <p:spPr>
          <a:xfrm>
            <a:off x="5394960" y="1097280"/>
            <a:ext cx="3108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2926"/>
                </a:solidFill>
              </a:rPr>
              <a:t>Salary Impact Ranking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44403C"/>
                </a:solidFill>
              </a:rPr>
              <a:t>1. Experience Level — the dominant factor driving compensation differences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44403C"/>
                </a:solidFill>
              </a:rPr>
              <a:t>2. Job Title — specialized roles (ML Engineer, Data Architect) command premium pay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44403C"/>
                </a:solidFill>
              </a:rPr>
              <a:t>3. Company Size — larger organizations offer higher base salaries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44403C"/>
                </a:solidFill>
              </a:rPr>
              <a:t>4. Geography — US-based roles significantly out-earn international counterparts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44403C"/>
                </a:solidFill>
              </a:rPr>
              <a:t>5. Remote Ratio — modest impact, with some remote premium observed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Experience Level Impact on Compensation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502920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60720" y="1005840"/>
            <a:ext cx="29260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60720" y="1005840"/>
            <a:ext cx="64008" cy="685800"/>
          </a:xfrm>
          <a:prstGeom prst="rect">
            <a:avLst/>
          </a:prstGeom>
          <a:solidFill>
            <a:srgbClr val="7C9CBF"/>
          </a:solidFill>
          <a:ln/>
        </p:spPr>
      </p:sp>
      <p:sp>
        <p:nvSpPr>
          <p:cNvPr id="7" name="Text 4"/>
          <p:cNvSpPr/>
          <p:nvPr/>
        </p:nvSpPr>
        <p:spPr>
          <a:xfrm>
            <a:off x="5989320" y="10515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926"/>
                </a:solidFill>
              </a:rPr>
              <a:t>Entry (EN)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0" y="10515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C9C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~$55K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760720" y="1874520"/>
            <a:ext cx="29260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60720" y="1874520"/>
            <a:ext cx="64008" cy="685800"/>
          </a:xfrm>
          <a:prstGeom prst="rect">
            <a:avLst/>
          </a:prstGeom>
          <a:solidFill>
            <a:srgbClr val="5B8DB8"/>
          </a:solidFill>
          <a:ln/>
        </p:spPr>
      </p:sp>
      <p:sp>
        <p:nvSpPr>
          <p:cNvPr id="11" name="Text 8"/>
          <p:cNvSpPr/>
          <p:nvPr/>
        </p:nvSpPr>
        <p:spPr>
          <a:xfrm>
            <a:off x="5989320" y="19202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926"/>
                </a:solidFill>
              </a:rPr>
              <a:t>Mid (MI)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0" y="19202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B8D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~$85K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760720" y="2743200"/>
            <a:ext cx="29260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60720" y="2743200"/>
            <a:ext cx="64008" cy="685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5" name="Text 12"/>
          <p:cNvSpPr/>
          <p:nvPr/>
        </p:nvSpPr>
        <p:spPr>
          <a:xfrm>
            <a:off x="5989320" y="27889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926"/>
                </a:solidFill>
              </a:rPr>
              <a:t>Senior (SE)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315200" y="27889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~$120K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760720" y="3611880"/>
            <a:ext cx="29260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760720" y="3611880"/>
            <a:ext cx="64008" cy="6858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9" name="Text 16"/>
          <p:cNvSpPr/>
          <p:nvPr/>
        </p:nvSpPr>
        <p:spPr>
          <a:xfrm>
            <a:off x="5989320" y="36576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926"/>
                </a:solidFill>
              </a:rPr>
              <a:t>Executive (EX)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315200" y="36576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~$175K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8716C"/>
                </a:solidFill>
              </a:rPr>
              <a:t>Recommendation: Budget 2-3x salary growth for senior AI hires. Entry-level talent offers strong ROI with mentorship investment.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Top-Paying AI Roles &amp; Skills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8229600" cy="3017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420624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4206240"/>
            <a:ext cx="64008" cy="7315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25196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03C"/>
                </a:solidFill>
              </a:rPr>
              <a:t>Specialized roles like Data Analytics Lead, Principal Data Engineer, and ML Engineer command the highest premiums. Companies competing for these profiles need above-market offers to attract top talent.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Remote vs On-Site Salary Analysis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457200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120640" y="1005840"/>
            <a:ext cx="35661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120640" y="1005840"/>
            <a:ext cx="64008" cy="3200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4"/>
          <p:cNvSpPr/>
          <p:nvPr/>
        </p:nvSpPr>
        <p:spPr>
          <a:xfrm>
            <a:off x="5394960" y="1097280"/>
            <a:ext cx="3108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2926"/>
                </a:solidFill>
              </a:rPr>
              <a:t>Remote Work Trends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403C"/>
                </a:solidFill>
              </a:rPr>
              <a:t>Majority of AI roles offer full remote (100%) or full on-site (0%) — hybrid remains uncommon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403C"/>
                </a:solidFill>
              </a:rPr>
              <a:t>Remote roles show a slight salary premium, likely reflecting talent competition across geographies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403C"/>
                </a:solidFill>
              </a:rPr>
              <a:t>Remote-first policies expand the candidate pool but may increase salary expectations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2C5F2D"/>
                </a:solidFill>
              </a:rPr>
              <a:t>Action: Consider location-adjusted bands for remote hires vs. single global rate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Job Market Trends (2020-2022)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457200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120640" y="1005840"/>
            <a:ext cx="35661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120640" y="1005840"/>
            <a:ext cx="64008" cy="3200400"/>
          </a:xfrm>
          <a:prstGeom prst="rect">
            <a:avLst/>
          </a:prstGeom>
          <a:solidFill>
            <a:srgbClr val="C48B2C"/>
          </a:solidFill>
          <a:ln/>
        </p:spPr>
      </p:sp>
      <p:sp>
        <p:nvSpPr>
          <p:cNvPr id="7" name="Text 4"/>
          <p:cNvSpPr/>
          <p:nvPr/>
        </p:nvSpPr>
        <p:spPr>
          <a:xfrm>
            <a:off x="5394960" y="1097280"/>
            <a:ext cx="3108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2926"/>
                </a:solidFill>
              </a:rPr>
              <a:t>Market Insights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403C"/>
                </a:solidFill>
              </a:rPr>
              <a:t>AI salaries grew 15-20% year-over-year from 2020 to 2022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403C"/>
                </a:solidFill>
              </a:rPr>
              <a:t>Demand for senior/executive AI talent significantly outpaces supply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403C"/>
                </a:solidFill>
              </a:rPr>
              <a:t>Job title proliferation shows market maturation — more specialized roles emerging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403C"/>
                </a:solidFill>
              </a:rPr>
              <a:t>UMAP clustering reveals distinct salary segments driven primarily by experience and specialization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2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863840" cy="822960"/>
          </a:xfrm>
          <a:prstGeom prst="rect">
            <a:avLst/>
          </a:prstGeom>
          <a:solidFill>
            <a:srgbClr val="2D2926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05840"/>
            <a:ext cx="64008" cy="8229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51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</a:rPr>
              <a:t>For Hiring Managers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105156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3D1"/>
                </a:solidFill>
              </a:rPr>
              <a:t>Benchmark offers using experience level as the primary anchor. Budget 2-3x for senior hires vs entry-level. Specialized titles warrant 15-25% premiums.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7863840" cy="822960"/>
          </a:xfrm>
          <a:prstGeom prst="rect">
            <a:avLst/>
          </a:prstGeom>
          <a:solidFill>
            <a:srgbClr val="2D2926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011680"/>
            <a:ext cx="64008" cy="8229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0574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</a:rPr>
              <a:t>For HR / Compensation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20574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3D1"/>
                </a:solidFill>
              </a:rPr>
              <a:t>Build transparent salary bands tied to experience level tiers. Consider location-adjusted remote rates. Audit for geographic and company-size bias in current pay scales.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7863840" cy="822960"/>
          </a:xfrm>
          <a:prstGeom prst="rect">
            <a:avLst/>
          </a:prstGeom>
          <a:solidFill>
            <a:srgbClr val="2D2926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017520"/>
            <a:ext cx="64008" cy="8229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063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</a:rPr>
              <a:t>For Talent Acquisition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30632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3D1"/>
                </a:solidFill>
              </a:rPr>
              <a:t>Prioritize remote-friendly policies to access wider talent pools. Highlight growth paths — the experience premium is the strongest salary motivator for candidates.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7863840" cy="822960"/>
          </a:xfrm>
          <a:prstGeom prst="rect">
            <a:avLst/>
          </a:prstGeom>
          <a:solidFill>
            <a:srgbClr val="2D2926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4023360"/>
            <a:ext cx="64008" cy="8229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069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</a:rPr>
              <a:t>For Leadership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26080" y="406908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3D1"/>
                </a:solidFill>
              </a:rPr>
              <a:t>Invest in internal training pipelines (Entry → Mid → Senior) for cost-effective talent development. The 2-3x experience premium makes retention far cheaper than external hiring.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16C"/>
                </a:solidFill>
              </a:rPr>
              <a:t>Jerel Velarde — AI Job Market Intelligence — March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Job Market Intelligence — Business Insights</dc:title>
  <dc:subject>PptxGenJS Presentation</dc:subject>
  <dc:creator>Jerel Velarde</dc:creator>
  <cp:lastModifiedBy>Jerel Velarde</cp:lastModifiedBy>
  <cp:revision>1</cp:revision>
  <dcterms:created xsi:type="dcterms:W3CDTF">2026-03-21T04:04:46Z</dcterms:created>
  <dcterms:modified xsi:type="dcterms:W3CDTF">2026-03-21T04:04:46Z</dcterms:modified>
</cp:coreProperties>
</file>