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5017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Job Market Intelligence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AI Salaries from Skills &amp; Job Attributes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017520"/>
            <a:ext cx="1371600" cy="36576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Jerel Velarde  |  Pillar 5 Capstone  |  March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475488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64008" cy="32918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28016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</a:rPr>
              <a:t>Objective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</a:rPr>
              <a:t>Build a regression model to predict AI/Data Science salaries (salary_in_usd) from job attributes such as experience level, employment type, company size, remote ratio, and location.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</a:rPr>
              <a:t>Why It Matters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</a:rPr>
              <a:t>Understanding salary drivers helps job seekers negotiate, employers benchmark compensation, and educators align curricula with market demand.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760720" y="1097280"/>
            <a:ext cx="27432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760720" y="1143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760720" y="1645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cleaned rows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60720" y="2240280"/>
            <a:ext cx="27432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760720" y="2788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original columns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3383280"/>
            <a:ext cx="27432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760720" y="3429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USD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76072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salary_in_usd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Overview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7863840" cy="20726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work_year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Integer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Year salary was paid (2020-2022)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experience_level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Categorical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EN / MI / SE / EX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employment_type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Categorical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FT / PT / CT / FL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job_title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Categorical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50 unique titles (grouped for modeling)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salary_in_usd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Integer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Target — range $2,859 to $600,000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remote_ratio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Integer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0 (on-site), 50 (hybrid), 100 (remote)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company_size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Categorical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 / M / 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Source: Kaggle — "Data Science Job Salaries" by Ruchi Bhatia (CC0 License)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Exploratory Data Analysis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4717588" cy="19748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03520" y="1005840"/>
            <a:ext cx="338328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303520" y="1005840"/>
            <a:ext cx="64008" cy="329184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577840" y="118872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</a:rPr>
              <a:t>Key Findings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Mean: $112,297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Median: $101,570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Right-skewed distribution with outliers above $300K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42 duplicates removed during cleaning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Salary by Experience &amp; Top-Paying Roles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206240" cy="32004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005840"/>
            <a:ext cx="4206240" cy="32004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297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</a:rPr>
              <a:t>Experience level is the strongest single predictor — Executive roles earn 2-3x Entry-level salaries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7490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64008" cy="15087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161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</a:rPr>
              <a:t>Ordinal Encoding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600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</a:rPr>
              <a:t>experience_level mapped to 1-4 (EN, MI, SE, EX) to preserve natural ordering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51560"/>
            <a:ext cx="37490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64008" cy="15087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83480" y="1161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</a:rPr>
              <a:t>Job Title Grouping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83480" y="1600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</a:rPr>
              <a:t>Titles with &lt; 5 occurrences grouped as "Other" to reduce cardinality (50 → ~15)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834640"/>
            <a:ext cx="37490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0080" y="2834640"/>
            <a:ext cx="64008" cy="15087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68680" y="29443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</a:rPr>
              <a:t>Geographic Features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3832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</a:rPr>
              <a:t>Extracted continent from country code + binary is_us flag for US vs international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37490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2834640"/>
            <a:ext cx="64008" cy="15087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83480" y="29443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</a:rPr>
              <a:t>Label Encoding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83480" y="33832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</a:rPr>
              <a:t>Remaining categoricals (employment_type, company_size, etc.) label-encoded for tree models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 &amp; Dimensionality Reduction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206240" cy="32004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005840"/>
            <a:ext cx="4206240" cy="32004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297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Left: Feature correlations — experience_level_ord shows strongest positive correlation with salary. Right: PCA 2D projection colored by experience level.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Implementation &amp; Results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097280"/>
          <a:ext cx="7315200" cy="18288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RMSE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MAE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65F46"/>
                          </a:solidFill>
                        </a:rPr>
                        <a:t>Linear Regression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65F46"/>
                          </a:solidFill>
                        </a:rPr>
                        <a:t>$53,248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65F46"/>
                          </a:solidFill>
                        </a:rPr>
                        <a:t>$33,731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65F46"/>
                          </a:solidFill>
                        </a:rPr>
                        <a:t>0.41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Random Forest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$53,436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$32,189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0.41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XGBoost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$53,813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$32,574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155"/>
                          </a:solidFill>
                        </a:rPr>
                        <a:t>0.40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017520"/>
            <a:ext cx="6400800" cy="1645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754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Linear Regression achieves the best test R² = 0.41 — modest but realistic for 565 rows with limited features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 Explainability Analysis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206240" cy="32004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005840"/>
            <a:ext cx="4206240" cy="32004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297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SHAP values reveal experience_level_ord as the dominant salary predictor, followed by job_title_encoded and company_size_encoded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Bias &amp; Error Analysis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1005840"/>
            <a:ext cx="35661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120640" y="1005840"/>
            <a:ext cx="64008" cy="32004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394960" y="1097280"/>
            <a:ext cx="31089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</a:rPr>
              <a:t>Bias Observations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</a:rPr>
              <a:t>Geographic: US-based roles dominate the dataset (~75%), creating prediction bias for non-US salaries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</a:rPr>
              <a:t>Experience: Senior/Executive levels have fewer samples, wider error margins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</a:rPr>
              <a:t>Company Size: Large companies over-represented; small company predictions less reliable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</a:rPr>
              <a:t>Outliers: A few extreme salaries ($400K+) disproportionately affect RMSE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7863840" cy="777240"/>
          </a:xfrm>
          <a:prstGeom prst="rect">
            <a:avLst/>
          </a:prstGeom>
          <a:solidFill>
            <a:srgbClr val="1E2761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64008" cy="77724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0972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</a:rPr>
              <a:t>Best Model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0" y="109728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</a:rPr>
              <a:t>Linear Regression (R²=0.41, MAE=$33,731) achieved the best test performance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7863840" cy="777240"/>
          </a:xfrm>
          <a:prstGeom prst="rect">
            <a:avLst/>
          </a:prstGeom>
          <a:solidFill>
            <a:srgbClr val="1E2761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64008" cy="77724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20574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</a:rPr>
              <a:t>Top Predictor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43200" y="205740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</a:rPr>
              <a:t>Experience level is the single strongest salary driver, confirmed by SHAP analysis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7863840" cy="777240"/>
          </a:xfrm>
          <a:prstGeom prst="rect">
            <a:avLst/>
          </a:prstGeom>
          <a:solidFill>
            <a:srgbClr val="1E2761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0080" y="2971800"/>
            <a:ext cx="64008" cy="77724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3017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</a:rPr>
              <a:t>Data Limitations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43200" y="301752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</a:rPr>
              <a:t>Small dataset (565 rows) and limited feature set constrain model performance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931920"/>
            <a:ext cx="7863840" cy="777240"/>
          </a:xfrm>
          <a:prstGeom prst="rect">
            <a:avLst/>
          </a:prstGeom>
          <a:solidFill>
            <a:srgbClr val="1E2761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" y="3931920"/>
            <a:ext cx="64008" cy="77724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14400" y="39776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</a:rPr>
              <a:t>Next Steps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743200" y="397764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</a:rPr>
              <a:t>Larger datasets, NLP on job descriptions, time-series analysis for salary trend forecasting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4663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Jerel Velarde — AI/ML Capstone Project — March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582</Words>
  <Application>Microsoft Macintosh PowerPoint</Application>
  <PresentationFormat>On-screen Show (16:9)</PresentationFormat>
  <Paragraphs>114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Job Market Intelligence — Technical Presentation</dc:title>
  <dc:subject>PptxGenJS Presentation</dc:subject>
  <dc:creator>Jerel Velarde</dc:creator>
  <cp:lastModifiedBy>Jerel John Velarde</cp:lastModifiedBy>
  <cp:revision>2</cp:revision>
  <dcterms:created xsi:type="dcterms:W3CDTF">2026-03-21T04:06:29Z</dcterms:created>
  <dcterms:modified xsi:type="dcterms:W3CDTF">2026-03-23T05:20:43Z</dcterms:modified>
</cp:coreProperties>
</file>